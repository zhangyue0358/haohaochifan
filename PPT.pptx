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总收入（万元）</c:v>
                </c:pt>
              </c:strCache>
            </c:strRef>
          </c:tx>
          <c:spPr>
            <a:solidFill>
              <a:srgbClr val="2BA7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7A4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第1年（种子期）</c:v>
                  </c:pt>
                  <c:pt idx="1">
                    <c:v>第2年（起步期）</c:v>
                  </c:pt>
                  <c:pt idx="2">
                    <c:v>第3年（增长期）</c:v>
                  </c:pt>
                  <c:pt idx="3">
                    <c:v>第4年（规模期）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150</c:v>
                </c:pt>
                <c:pt idx="1">
                  <c:v>1500</c:v>
                </c:pt>
                <c:pt idx="2">
                  <c:v>6000</c:v>
                </c:pt>
                <c:pt idx="3">
                  <c:v>20000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7A4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haohaochifan-1.netlify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haohaochifan-1.netlify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7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64E37"/>
          </a:solidFill>
          <a:ln w="12700">
            <a:solidFill>
              <a:srgbClr val="164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🥗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291840" y="5486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好好吃饭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291840" y="1554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spc="800" kern="0" dirty="0">
                <a:solidFill>
                  <a:srgbClr val="6DC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天天向上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91840" y="228600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2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不是外卖App，是健康行为改变平台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91840" y="2834640"/>
            <a:ext cx="5303520" cy="0"/>
          </a:xfrm>
          <a:prstGeom prst="line">
            <a:avLst/>
          </a:prstGeom>
          <a:noFill/>
          <a:ln w="12700">
            <a:solidFill>
              <a:srgbClr val="6DCC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CCA0"/>
                </a:solidFill>
              </a:rPr>
              <a:t>天使轮融资：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500万人民币</a:t>
            </a:r>
            <a:pPr indent="0" marL="0">
              <a:buNone/>
            </a:pPr>
            <a:r>
              <a:rPr lang="en-US" sz="1500" dirty="0">
                <a:solidFill>
                  <a:srgbClr val="6DCCA0"/>
                </a:solidFill>
              </a:rPr>
              <a:t>  ·  出让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 10%</a:t>
            </a:r>
            <a:pPr indent="0" marL="0">
              <a:buNone/>
            </a:pPr>
            <a:r>
              <a:rPr lang="en-US" sz="1500" dirty="0">
                <a:solidFill>
                  <a:srgbClr val="6DCCA0"/>
                </a:solidFill>
              </a:rPr>
              <a:t> 股权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91840" y="352044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CCA0"/>
                </a:solidFill>
              </a:rPr>
              <a:t>📱 Demo：</a:t>
            </a:r>
            <a:pPr indent="0" marL="0">
              <a:buNone/>
            </a:pPr>
            <a:r>
              <a:rPr lang="en-US" sz="1300" u="sng" dirty="0">
                <a:solidFill>
                  <a:srgbClr val="FFFFF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haohaochifan-1.netlify.app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C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张越  |  18810409001  |  北京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0" y="4663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CCA0"/>
                </a:solidFill>
              </a:rPr>
              <a:t>01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执行摘要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CCA0"/>
                </a:solidFill>
              </a:rPr>
              <a:t>02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我们不屏蔽任何食物，只做精准标识——让用户在点餐时做出更知情的选择，帮助慢病患者、孕产妇和健康人群养成更好的饮食习惯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1920240" cy="201168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0574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4亿+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C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国内慢病患者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383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高血压1.3亿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6312" y="2011680"/>
            <a:ext cx="1920240" cy="201168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96312" y="20574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1000万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96312" y="2926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C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年孕产妇数量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96312" y="3383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月子中心切入口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2011680"/>
            <a:ext cx="1920240" cy="201168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26864" y="20574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1.2万亿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26864" y="2926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C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外卖市场规模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26864" y="3383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2024年数据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57416" y="2011680"/>
            <a:ext cx="1920240" cy="201168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57416" y="20574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757416" y="2926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C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同类竞品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57416" y="3383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市场空白明确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BA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核心差异：健康档案驱动的完整餐饮闭环，越用越精准，数据不可迁移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用户痛点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CCA0"/>
                </a:solidFill>
              </a:rPr>
              <a:t>03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474720" cy="347472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C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核心洞察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问题不在于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「没有健康食物」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2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在于「信息不对称」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2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用户不知道哪道菜今天适不适合自己吃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0" y="1097280"/>
            <a:ext cx="4663440" cy="621792"/>
          </a:xfrm>
          <a:prstGeom prst="rect">
            <a:avLst/>
          </a:prstGeom>
          <a:solidFill>
            <a:srgbClr val="E8F7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143000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🤔  不知道自己该吃什么，不会选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0" y="1847088"/>
            <a:ext cx="46634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892808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😟  外卖平台看不出哪道菜对自己健康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0" y="2596896"/>
            <a:ext cx="4663440" cy="621792"/>
          </a:xfrm>
          <a:prstGeom prst="rect">
            <a:avLst/>
          </a:prstGeom>
          <a:solidFill>
            <a:srgbClr val="E8F7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642616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 孕妇/高血压/痛风患者完全得不到针对性引导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0" y="3346704"/>
            <a:ext cx="46634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3392424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😤  知道要吃健康，但好习惯难坚持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0" y="4096512"/>
            <a:ext cx="4663440" cy="621792"/>
          </a:xfrm>
          <a:prstGeom prst="rect">
            <a:avLst/>
          </a:prstGeom>
          <a:solidFill>
            <a:srgbClr val="E8F7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4142232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😰  食材质量和配送安全没有保障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市场规模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CCA0"/>
                </a:solidFill>
              </a:rPr>
              <a:t>04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00584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C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· 总市场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1.2万亿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85216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2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中国在线外卖市场（2024年）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0" y="21488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2423160"/>
            <a:ext cx="6400800" cy="100584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C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· 目标市场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~800亿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4632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2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有健康需求的外卖用户群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0" y="33832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0" y="3657600"/>
            <a:ext cx="4572000" cy="1005840"/>
          </a:xfrm>
          <a:prstGeom prst="rect">
            <a:avLst/>
          </a:prstGeom>
          <a:solidFill>
            <a:srgbClr val="2BA76A"/>
          </a:solidFill>
          <a:ln w="12700">
            <a:solidFill>
              <a:srgbClr val="2BA7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C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· 3年可获市场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~15亿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3192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2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北上深切入，100万付费用户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0" y="46177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E8F7F0"/>
          </a:solidFill>
          <a:ln w="12700">
            <a:solidFill>
              <a:srgbClr val="C2ED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外卖用户年增速 CAGR 15%  ·  健康食品消费年增速 22%  ·  慢病患者人数持续增长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产品核心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CCA0"/>
                </a:solidFill>
              </a:rPr>
              <a:t>05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0700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CCA0"/>
                </a:solidFill>
              </a:rPr>
              <a:t>核心理念：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标识而非限制</a:t>
            </a:r>
            <a:pPr indent="0" marL="0">
              <a:buNone/>
            </a:pPr>
            <a:r>
              <a:rPr lang="en-US" sz="1300" dirty="0">
                <a:solidFill>
                  <a:srgbClr val="C2EDD8"/>
                </a:solidFill>
              </a:rPr>
              <a:t>  ——  选择权永远在用户手里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C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「今天钠快够了」「尿酸高时少吃」「✓ 挺适合你」— 朋友式提示，不屏蔽，不强制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2560320" cy="1097280"/>
          </a:xfrm>
          <a:prstGeom prst="rect">
            <a:avLst/>
          </a:prstGeom>
          <a:solidFill>
            <a:srgbClr val="E8F7F0"/>
          </a:solidFill>
          <a:ln w="12700">
            <a:solidFill>
              <a:srgbClr val="D0EC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4048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健康档案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788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AI解读+营养师审核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个性化营养方案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331720"/>
            <a:ext cx="2560320" cy="1097280"/>
          </a:xfrm>
          <a:prstGeom prst="rect">
            <a:avLst/>
          </a:prstGeom>
          <a:solidFill>
            <a:srgbClr val="E8F7F0"/>
          </a:solidFill>
          <a:ln w="12700">
            <a:solidFill>
              <a:srgbClr val="D0EC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40480" y="24048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菜品标识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2788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100分制评分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4维度实时计算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2331720"/>
            <a:ext cx="2560320" cy="1097280"/>
          </a:xfrm>
          <a:prstGeom prst="rect">
            <a:avLst/>
          </a:prstGeom>
          <a:solidFill>
            <a:srgbClr val="E8F7F0"/>
          </a:solidFill>
          <a:ln w="12700">
            <a:solidFill>
              <a:srgbClr val="D0EC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🍽️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75120" y="24048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智能推荐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2788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今日已摄入动态调整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越用越懂你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C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👨‍👩‍👧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05840" y="36850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家庭账号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6人独立档案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一键全家下单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61188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C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0040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🤰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840480" y="36850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特殊人群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4048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孕妇按孕周定制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慢病多病种联合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361188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C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675120" y="36850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饮食记录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7512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外卖自动同步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周报营养趋势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7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 Demo 在线体验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DC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涵盖注册、首页、点外卖、健康评分说明、孕妇/慢病专属、家庭账号、下单配送全链路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2011680" cy="3200400"/>
          </a:xfrm>
          <a:prstGeom prst="rect">
            <a:avLst/>
          </a:prstGeom>
          <a:solidFill>
            <a:srgbClr val="164E37"/>
          </a:solidFill>
          <a:ln w="25400">
            <a:solidFill>
              <a:srgbClr val="6DCC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822960"/>
            <a:ext cx="2011680" cy="3200400"/>
          </a:xfrm>
          <a:prstGeom prst="rect">
            <a:avLst/>
          </a:prstGeom>
          <a:solidFill>
            <a:srgbClr val="1D5C3A"/>
          </a:solidFill>
          <a:ln w="25400">
            <a:solidFill>
              <a:srgbClr val="6DCC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0" y="1600200"/>
            <a:ext cx="2011680" cy="3200400"/>
          </a:xfrm>
          <a:prstGeom prst="rect">
            <a:avLst/>
          </a:prstGeom>
          <a:solidFill>
            <a:srgbClr val="164E37"/>
          </a:solidFill>
          <a:ln w="25400">
            <a:solidFill>
              <a:srgbClr val="6DCC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4846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C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注册流程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DC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4步极简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4069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C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DC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今日核心卡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4846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C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点外卖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DC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健康评分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0" y="1600200"/>
            <a:ext cx="3474720" cy="512064"/>
          </a:xfrm>
          <a:prstGeom prst="rect">
            <a:avLst/>
          </a:prstGeom>
          <a:solidFill>
            <a:srgbClr val="164E37"/>
          </a:solidFill>
          <a:ln w="6350">
            <a:solidFill>
              <a:srgbClr val="6DCC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1645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每道菜实时计算个性化健康评分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0" y="2221992"/>
            <a:ext cx="3474720" cy="512064"/>
          </a:xfrm>
          <a:prstGeom prst="rect">
            <a:avLst/>
          </a:prstGeom>
          <a:solidFill>
            <a:srgbClr val="164E37"/>
          </a:solidFill>
          <a:ln w="6350">
            <a:solidFill>
              <a:srgbClr val="6DCC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226771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点「?」查看评分4维度详细说明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0" y="2843784"/>
            <a:ext cx="3474720" cy="512064"/>
          </a:xfrm>
          <a:prstGeom prst="rect">
            <a:avLst/>
          </a:prstGeom>
          <a:solidFill>
            <a:srgbClr val="164E37"/>
          </a:solidFill>
          <a:ln w="6350">
            <a:solidFill>
              <a:srgbClr val="6DCC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288950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🤰 孕妇孕周定制 + 慢病多病种管理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0" y="3465576"/>
            <a:ext cx="3474720" cy="512064"/>
          </a:xfrm>
          <a:prstGeom prst="rect">
            <a:avLst/>
          </a:prstGeom>
          <a:solidFill>
            <a:srgbClr val="164E37"/>
          </a:solidFill>
          <a:ln w="6350">
            <a:solidFill>
              <a:srgbClr val="6DCC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351129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👨‍👩‍👧 家庭账号各自独立健康档案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03520" y="4087368"/>
            <a:ext cx="3474720" cy="512064"/>
          </a:xfrm>
          <a:prstGeom prst="rect">
            <a:avLst/>
          </a:prstGeom>
          <a:solidFill>
            <a:srgbClr val="164E37"/>
          </a:solidFill>
          <a:ln w="6350">
            <a:solidFill>
              <a:srgbClr val="6DCC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41330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下单→配送→健康数据自动同步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03520" y="4754880"/>
            <a:ext cx="3474720" cy="502920"/>
          </a:xfrm>
          <a:prstGeom prst="rect">
            <a:avLst/>
          </a:prstGeom>
          <a:solidFill>
            <a:srgbClr val="2BA76A"/>
          </a:solidFill>
          <a:ln w="12700">
            <a:solidFill>
              <a:srgbClr val="2BA7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47731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📱 立即体验：</a:t>
            </a:r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haohaochifan-1.netlify.app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目标用户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CCA0"/>
                </a:solidFill>
              </a:rPr>
              <a:t>07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20240" cy="32004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首选切入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1920240" cy="2560320"/>
          </a:xfrm>
          <a:prstGeom prst="rect">
            <a:avLst/>
          </a:prstGeom>
          <a:solidFill>
            <a:srgbClr val="E8F7F0"/>
          </a:solidFill>
          <a:ln w="12700">
            <a:solidFill>
              <a:srgbClr val="D0EC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🤰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孕妇 / 产妇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A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年约 1000万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孕期按周营养定制，月子中心合作渠道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96312" y="1097280"/>
            <a:ext cx="1920240" cy="32004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1155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首选切入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96312" y="1417320"/>
            <a:ext cx="1920240" cy="2560320"/>
          </a:xfrm>
          <a:prstGeom prst="rect">
            <a:avLst/>
          </a:prstGeom>
          <a:solidFill>
            <a:srgbClr val="E8F7F0"/>
          </a:solidFill>
          <a:ln w="12700">
            <a:solidFill>
              <a:srgbClr val="D0EC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96312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542032" y="2148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慢病患者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42032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A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4亿+人群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87752" y="292608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多病种联合管理，医院营养科渠道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26864" y="1097280"/>
            <a:ext cx="1920240" cy="320040"/>
          </a:xfrm>
          <a:prstGeom prst="rect">
            <a:avLst/>
          </a:prstGeom>
          <a:solidFill>
            <a:srgbClr val="2C7A55"/>
          </a:solidFill>
          <a:ln w="12700">
            <a:solidFill>
              <a:srgbClr val="2C7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11155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规模化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26864" y="1417320"/>
            <a:ext cx="1920240" cy="2560320"/>
          </a:xfrm>
          <a:prstGeom prst="rect">
            <a:avLst/>
          </a:prstGeom>
          <a:solidFill>
            <a:srgbClr val="E8F7F0"/>
          </a:solidFill>
          <a:ln w="12700">
            <a:solidFill>
              <a:srgbClr val="D0EC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💼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672584" y="2148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健康白领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72584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A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1.5亿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18304" y="292608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企业健康福利合作切入，信任专业背书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57416" y="1097280"/>
            <a:ext cx="1920240" cy="320040"/>
          </a:xfrm>
          <a:prstGeom prst="rect">
            <a:avLst/>
          </a:prstGeom>
          <a:solidFill>
            <a:srgbClr val="2C7A55"/>
          </a:solidFill>
          <a:ln w="12700">
            <a:solidFill>
              <a:srgbClr val="2C7A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11155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规模化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57416" y="1417320"/>
            <a:ext cx="1920240" cy="2560320"/>
          </a:xfrm>
          <a:prstGeom prst="rect">
            <a:avLst/>
          </a:prstGeom>
          <a:solidFill>
            <a:srgbClr val="E8F7F0"/>
          </a:solidFill>
          <a:ln w="12700">
            <a:solidFill>
              <a:srgbClr val="D0EC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57416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👴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803136" y="2148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中老年养生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03136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A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2.7亿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48856" y="292608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子女代为下单，家庭账号功能驱动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13308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CCA0"/>
                </a:solidFill>
              </a:rPr>
              <a:t>冷启动策略：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月子中心→医院营养科→企业健康福利，精准渠道逐步扩量，前100-500用户服务到极致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竞争分析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CCA0"/>
                </a:solidFill>
              </a:rPr>
              <a:t>08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468880" cy="50292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功能维度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097280"/>
            <a:ext cx="1737360" cy="50292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11556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饿了么/美团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1920240" cy="50292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11556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薄荷健康/Keep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0" y="1097280"/>
            <a:ext cx="1920240" cy="502920"/>
          </a:xfrm>
          <a:prstGeom prst="rect">
            <a:avLst/>
          </a:prstGeom>
          <a:solidFill>
            <a:srgbClr val="2BA76A"/>
          </a:solidFill>
          <a:ln w="12700">
            <a:solidFill>
              <a:srgbClr val="2BA7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111556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好好吃饭 ✦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2468880" cy="475488"/>
          </a:xfrm>
          <a:prstGeom prst="rect">
            <a:avLst/>
          </a:prstGeom>
          <a:solidFill>
            <a:srgbClr val="F5F5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6459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健康档案接入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0" y="1627632"/>
            <a:ext cx="1737360" cy="475488"/>
          </a:xfrm>
          <a:prstGeom prst="rect">
            <a:avLst/>
          </a:prstGeom>
          <a:solidFill>
            <a:srgbClr val="F5F5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16459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627632"/>
            <a:ext cx="1920240" cy="475488"/>
          </a:xfrm>
          <a:prstGeom prst="rect">
            <a:avLst/>
          </a:prstGeom>
          <a:solidFill>
            <a:srgbClr val="F5F5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6459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 有限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1627632"/>
            <a:ext cx="1920240" cy="475488"/>
          </a:xfrm>
          <a:prstGeom prst="rect">
            <a:avLst/>
          </a:prstGeom>
          <a:solidFill>
            <a:srgbClr val="E8F7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6459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130552"/>
            <a:ext cx="2468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1488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个性化菜品标识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26080" y="2130552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21488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2130552"/>
            <a:ext cx="1920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1488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66560" y="2130552"/>
            <a:ext cx="1920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21488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2633472"/>
            <a:ext cx="2468880" cy="475488"/>
          </a:xfrm>
          <a:prstGeom prst="rect">
            <a:avLst/>
          </a:prstGeom>
          <a:solidFill>
            <a:srgbClr val="F5F5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6517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营养师人工审核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926080" y="2633472"/>
            <a:ext cx="1737360" cy="475488"/>
          </a:xfrm>
          <a:prstGeom prst="rect">
            <a:avLst/>
          </a:prstGeom>
          <a:solidFill>
            <a:srgbClr val="F5F5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71800" y="265176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2633472"/>
            <a:ext cx="1920240" cy="475488"/>
          </a:xfrm>
          <a:prstGeom prst="rect">
            <a:avLst/>
          </a:prstGeom>
          <a:solidFill>
            <a:srgbClr val="F5F5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6517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766560" y="2633472"/>
            <a:ext cx="1920240" cy="475488"/>
          </a:xfrm>
          <a:prstGeom prst="rect">
            <a:avLst/>
          </a:prstGeom>
          <a:solidFill>
            <a:srgbClr val="E8F7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12280" y="26517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65760" y="3136392"/>
            <a:ext cx="2468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1546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慢病/孕妇专属管理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926080" y="3136392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71800" y="31546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754880" y="3136392"/>
            <a:ext cx="1920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15468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 有限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766560" y="3136392"/>
            <a:ext cx="1920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12280" y="315468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65760" y="3639312"/>
            <a:ext cx="2468880" cy="475488"/>
          </a:xfrm>
          <a:prstGeom prst="rect">
            <a:avLst/>
          </a:prstGeom>
          <a:solidFill>
            <a:srgbClr val="F5F5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6576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外卖+健康完整闭环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926080" y="3639312"/>
            <a:ext cx="1737360" cy="475488"/>
          </a:xfrm>
          <a:prstGeom prst="rect">
            <a:avLst/>
          </a:prstGeom>
          <a:solidFill>
            <a:srgbClr val="F5F5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71800" y="36576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754880" y="3639312"/>
            <a:ext cx="1920240" cy="475488"/>
          </a:xfrm>
          <a:prstGeom prst="rect">
            <a:avLst/>
          </a:prstGeom>
          <a:solidFill>
            <a:srgbClr val="F5F5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36576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766560" y="3639312"/>
            <a:ext cx="1920240" cy="475488"/>
          </a:xfrm>
          <a:prstGeom prst="rect">
            <a:avLst/>
          </a:prstGeom>
          <a:solidFill>
            <a:srgbClr val="E8F7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12280" y="36576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65760" y="4142232"/>
            <a:ext cx="2468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41605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数据护城河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926080" y="4142232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71800" y="4160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 订单历史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754880" y="4142232"/>
            <a:ext cx="1920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41605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 饮食记录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766560" y="4142232"/>
            <a:ext cx="1920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12280" y="41605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健康档案+饮食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E8F7F0"/>
          </a:solidFill>
          <a:ln w="12700">
            <a:solidFill>
              <a:srgbClr val="6DCCA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护城河：数据飞轮（365天饮食+健康数据不可迁移）· 营养师网络 · 特殊人群壁垒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商业模式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CCA0"/>
                </a:solidFill>
              </a:rPr>
              <a:t>09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20240" cy="292608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用户会员订阅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233172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19元/月 · 199元/年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2743200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2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100万付费用户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1737360" cy="594360"/>
          </a:xfrm>
          <a:prstGeom prst="rect">
            <a:avLst/>
          </a:prstGeom>
          <a:solidFill>
            <a:srgbClr val="2BA76A"/>
          </a:solidFill>
          <a:ln w="12700">
            <a:solidFill>
              <a:srgbClr val="2BA7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906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~2亿/年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96312" y="1097280"/>
            <a:ext cx="1920240" cy="2926080"/>
          </a:xfrm>
          <a:prstGeom prst="rect">
            <a:avLst/>
          </a:prstGeom>
          <a:solidFill>
            <a:srgbClr val="2C7A55"/>
          </a:solidFill>
          <a:ln w="12700">
            <a:solidFill>
              <a:srgbClr val="2C7A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96312" y="1188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🏪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42032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商家平台服务费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9464" y="233172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GMV抽佣2-5%+年费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9464" y="2743200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2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2000家商家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87752" y="3063240"/>
            <a:ext cx="1737360" cy="594360"/>
          </a:xfrm>
          <a:prstGeom prst="rect">
            <a:avLst/>
          </a:prstGeom>
          <a:solidFill>
            <a:srgbClr val="2BA76A"/>
          </a:solidFill>
          <a:ln w="12700">
            <a:solidFill>
              <a:srgbClr val="2BA7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87752" y="30906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~9000万/年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26864" y="1097280"/>
            <a:ext cx="1920240" cy="2926080"/>
          </a:xfrm>
          <a:prstGeom prst="rect">
            <a:avLst/>
          </a:prstGeom>
          <a:solidFill>
            <a:srgbClr val="1D5C3A"/>
          </a:solidFill>
          <a:ln w="12700">
            <a:solidFill>
              <a:srgbClr val="1D5C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26864" y="1188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🏬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672584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品牌加盟+食材供应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0016" y="233172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加盟费10-30万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0016" y="2743200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2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200家加盟店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18304" y="3063240"/>
            <a:ext cx="1737360" cy="594360"/>
          </a:xfrm>
          <a:prstGeom prst="rect">
            <a:avLst/>
          </a:prstGeom>
          <a:solidFill>
            <a:srgbClr val="2BA76A"/>
          </a:solidFill>
          <a:ln w="12700">
            <a:solidFill>
              <a:srgbClr val="2BA7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30906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~3000万/年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57416" y="1097280"/>
            <a:ext cx="1920240" cy="2926080"/>
          </a:xfrm>
          <a:prstGeom prst="rect">
            <a:avLst/>
          </a:prstGeom>
          <a:solidFill>
            <a:srgbClr val="164E37"/>
          </a:solidFill>
          <a:ln w="12700">
            <a:solidFill>
              <a:srgbClr val="164E3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757416" y="1188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803136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企业健康福利B2B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30568" y="233172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5-20元/人/月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30568" y="2743200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2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1000家企业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48856" y="3063240"/>
            <a:ext cx="1737360" cy="594360"/>
          </a:xfrm>
          <a:prstGeom prst="rect">
            <a:avLst/>
          </a:prstGeom>
          <a:solidFill>
            <a:srgbClr val="2BA76A"/>
          </a:solidFill>
          <a:ln w="12700">
            <a:solidFill>
              <a:srgbClr val="2BA7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48856" y="30906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~2000万/年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4206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BA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冷启动关键：前100名种子用户服务到极致，用真实健康改善数据做口碑传播内容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第2年预计实现盈利  ·  第3年目标总收入 6,000万  ·  第4年目标 2亿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财务预测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CCA0"/>
                </a:solidFill>
              </a:rPr>
              <a:t>10 / 12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097280"/>
            <a:ext cx="2834640" cy="777240"/>
          </a:xfrm>
          <a:prstGeom prst="rect">
            <a:avLst/>
          </a:prstGeom>
          <a:solidFill>
            <a:srgbClr val="F5F5F0"/>
          </a:solidFill>
          <a:ln w="12700">
            <a:solidFill>
              <a:srgbClr val="D0EC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0" y="11430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第1年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766560" y="1143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A7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150万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35040" y="14813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亏损 230万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2011680"/>
            <a:ext cx="2834640" cy="777240"/>
          </a:xfrm>
          <a:prstGeom prst="rect">
            <a:avLst/>
          </a:prstGeom>
          <a:solidFill>
            <a:srgbClr val="E8F7F0"/>
          </a:solidFill>
          <a:ln w="12700">
            <a:solidFill>
              <a:srgbClr val="D0EC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20574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66560" y="2057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A7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1,500万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35040" y="23957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+盈利 600万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0" y="2926080"/>
            <a:ext cx="2834640" cy="777240"/>
          </a:xfrm>
          <a:prstGeom prst="rect">
            <a:avLst/>
          </a:prstGeom>
          <a:solidFill>
            <a:srgbClr val="E8F7F0"/>
          </a:solidFill>
          <a:ln w="12700">
            <a:solidFill>
              <a:srgbClr val="D0EC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2971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第3年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766560" y="2971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A7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6,000万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35040" y="33101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+盈利 3,200万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43600" y="3840480"/>
            <a:ext cx="2834640" cy="777240"/>
          </a:xfrm>
          <a:prstGeom prst="rect">
            <a:avLst/>
          </a:prstGeom>
          <a:solidFill>
            <a:srgbClr val="E8F7F0"/>
          </a:solidFill>
          <a:ln w="12700">
            <a:solidFill>
              <a:srgbClr val="D0EC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38862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第4年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766560" y="3886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A7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2亿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035040" y="42245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+盈利 1.2亿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E8F7F0"/>
          </a:solidFill>
          <a:ln w="12700">
            <a:solidFill>
              <a:srgbClr val="6DCCA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第2年底实现盈利  ·  关键指标：月留存率 &gt; 70%  ·  付费转化率 &gt; 15%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融资计划 &amp; 执行路线图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CCA0"/>
                </a:solidFill>
              </a:rPr>
              <a:t>11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85800"/>
          </a:xfrm>
          <a:prstGeom prst="rect">
            <a:avLst/>
          </a:prstGeom>
          <a:solidFill>
            <a:srgbClr val="2BA76A"/>
          </a:solidFill>
          <a:ln w="12700">
            <a:solidFill>
              <a:srgbClr val="2BA7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天使轮 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500万人民币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 ·  出让 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10%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股权  ·  估值 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5,000万元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1920240" cy="1188720"/>
          </a:xfrm>
          <a:prstGeom prst="rect">
            <a:avLst/>
          </a:prstGeom>
          <a:solidFill>
            <a:srgbClr val="1D5C3A"/>
          </a:solidFill>
          <a:ln w="12700">
            <a:solidFill>
              <a:srgbClr val="1D5C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C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产品与技术团队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96312" y="1920240"/>
            <a:ext cx="1920240" cy="118872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96312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96312" y="2423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C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42032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线下渠道拓展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920240"/>
            <a:ext cx="1920240" cy="1188720"/>
          </a:xfrm>
          <a:prstGeom prst="rect">
            <a:avLst/>
          </a:prstGeom>
          <a:solidFill>
            <a:srgbClr val="2C7A55"/>
          </a:solidFill>
          <a:ln w="12700">
            <a:solidFill>
              <a:srgbClr val="2C7A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26864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26864" y="2423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C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100万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72584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食材供应链合作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57416" y="1920240"/>
            <a:ext cx="1920240" cy="1188720"/>
          </a:xfrm>
          <a:prstGeom prst="rect">
            <a:avLst/>
          </a:prstGeom>
          <a:solidFill>
            <a:srgbClr val="2BA76A"/>
          </a:solidFill>
          <a:ln w="12700">
            <a:solidFill>
              <a:srgbClr val="2BA76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57416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757416" y="2423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C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150万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03136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营养师+市场推广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3749040"/>
            <a:ext cx="7772400" cy="0"/>
          </a:xfrm>
          <a:prstGeom prst="line">
            <a:avLst/>
          </a:prstGeom>
          <a:noFill/>
          <a:ln w="25400">
            <a:solidFill>
              <a:srgbClr val="6DCC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3520440"/>
            <a:ext cx="457200" cy="457200"/>
          </a:xfrm>
          <a:prstGeom prst="ellipse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41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0-3个月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43708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搭班底·跑MVP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63240" y="3520440"/>
            <a:ext cx="457200" cy="457200"/>
          </a:xfrm>
          <a:prstGeom prst="ellipse">
            <a:avLst/>
          </a:prstGeom>
          <a:solidFill>
            <a:srgbClr val="2C7A55"/>
          </a:solidFill>
          <a:ln w="12700">
            <a:solidFill>
              <a:srgbClr val="2C7A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14600" y="4041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3-6个月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68880" y="43708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月子中心·种子用户500+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120640" y="3520440"/>
            <a:ext cx="457200" cy="457200"/>
          </a:xfrm>
          <a:prstGeom prst="ellipse">
            <a:avLst/>
          </a:prstGeom>
          <a:solidFill>
            <a:srgbClr val="2BA76A"/>
          </a:solidFill>
          <a:ln w="12700">
            <a:solidFill>
              <a:srgbClr val="2BA7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4041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6-12个月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26280" y="43708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医院渠道·付费破5千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78040" y="3520440"/>
            <a:ext cx="457200" cy="457200"/>
          </a:xfrm>
          <a:prstGeom prst="ellipse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4041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12个月+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83680" y="43708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A轮·付费用户5万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7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4E37"/>
          </a:solidFill>
          <a:ln w="12700">
            <a:solidFill>
              <a:srgbClr val="164E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7A4C"/>
          </a:solidFill>
          <a:ln w="12700">
            <a:solidFill>
              <a:srgbClr val="1A7A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0" y="45720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🥗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好好吃饭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spc="800" kern="0" dirty="0">
                <a:solidFill>
                  <a:srgbClr val="6DC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天天向上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EC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不是外卖App，是健康行为改变平台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303520" cy="0"/>
          </a:xfrm>
          <a:prstGeom prst="line">
            <a:avLst/>
          </a:prstGeom>
          <a:noFill/>
          <a:ln w="12700">
            <a:solidFill>
              <a:srgbClr val="6DCC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632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张越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44728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 18810409001 / 13288199969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83133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 zhangyue0358@126.com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21538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C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Demo：haohaochifan-1.netlify.app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59943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北京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29260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DC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感谢您的时间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6DC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期待与您进一步交流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4663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CCA0"/>
                </a:solidFill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好好吃饭 · 融资计划书</dc:title>
  <dc:subject>PptxGenJS Presentation</dc:subject>
  <dc:creator>PptxGenJS</dc:creator>
  <cp:lastModifiedBy>PptxGenJS</cp:lastModifiedBy>
  <cp:revision>1</cp:revision>
  <dcterms:created xsi:type="dcterms:W3CDTF">2026-05-14T09:53:05Z</dcterms:created>
  <dcterms:modified xsi:type="dcterms:W3CDTF">2026-05-14T09:53:05Z</dcterms:modified>
</cp:coreProperties>
</file>